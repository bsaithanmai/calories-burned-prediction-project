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70" r:id="rId9"/>
    <p:sldId id="269" r:id="rId10"/>
    <p:sldId id="267" r:id="rId11"/>
    <p:sldId id="268" r:id="rId12"/>
    <p:sldId id="271" r:id="rId13"/>
    <p:sldId id="264" r:id="rId14"/>
    <p:sldId id="266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2C83C0-754B-4E45-8D66-75BA1359C6B7}">
          <p14:sldIdLst>
            <p14:sldId id="256"/>
            <p14:sldId id="257"/>
            <p14:sldId id="258"/>
            <p14:sldId id="260"/>
            <p14:sldId id="261"/>
            <p14:sldId id="262"/>
            <p14:sldId id="265"/>
            <p14:sldId id="270"/>
            <p14:sldId id="269"/>
            <p14:sldId id="267"/>
            <p14:sldId id="268"/>
            <p14:sldId id="271"/>
            <p14:sldId id="264"/>
            <p14:sldId id="266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umar mallipeddi" userId="cf38589b1bf14547" providerId="LiveId" clId="{7D544862-166B-4506-80CB-300368115C8B}"/>
    <pc:docChg chg="undo custSel modSld">
      <pc:chgData name="kiran kumar mallipeddi" userId="cf38589b1bf14547" providerId="LiveId" clId="{7D544862-166B-4506-80CB-300368115C8B}" dt="2025-04-25T04:30:37.669" v="61" actId="122"/>
      <pc:docMkLst>
        <pc:docMk/>
      </pc:docMkLst>
      <pc:sldChg chg="addSp delSp modSp mod setBg modClrScheme chgLayout">
        <pc:chgData name="kiran kumar mallipeddi" userId="cf38589b1bf14547" providerId="LiveId" clId="{7D544862-166B-4506-80CB-300368115C8B}" dt="2025-04-25T04:30:37.669" v="61" actId="122"/>
        <pc:sldMkLst>
          <pc:docMk/>
          <pc:sldMk cId="0" sldId="256"/>
        </pc:sldMkLst>
        <pc:spChg chg="mod">
          <ac:chgData name="kiran kumar mallipeddi" userId="cf38589b1bf14547" providerId="LiveId" clId="{7D544862-166B-4506-80CB-300368115C8B}" dt="2025-04-25T04:29:19.775" v="27" actId="207"/>
          <ac:spMkLst>
            <pc:docMk/>
            <pc:sldMk cId="0" sldId="256"/>
            <ac:spMk id="2" creationId="{4FA39A98-A31E-F5F8-C981-222F6DF6DC1A}"/>
          </ac:spMkLst>
        </pc:spChg>
        <pc:spChg chg="mod ord">
          <ac:chgData name="kiran kumar mallipeddi" userId="cf38589b1bf14547" providerId="LiveId" clId="{7D544862-166B-4506-80CB-300368115C8B}" dt="2025-04-25T04:28:55.052" v="25" actId="115"/>
          <ac:spMkLst>
            <pc:docMk/>
            <pc:sldMk cId="0" sldId="256"/>
            <ac:spMk id="3" creationId="{00000000-0000-0000-0000-000000000000}"/>
          </ac:spMkLst>
        </pc:spChg>
        <pc:spChg chg="del mod ord">
          <ac:chgData name="kiran kumar mallipeddi" userId="cf38589b1bf14547" providerId="LiveId" clId="{7D544862-166B-4506-80CB-300368115C8B}" dt="2025-04-25T04:14:07.587" v="7" actId="700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iran kumar mallipeddi" userId="cf38589b1bf14547" providerId="LiveId" clId="{7D544862-166B-4506-80CB-300368115C8B}" dt="2025-04-25T04:14:22.686" v="10" actId="21"/>
          <ac:spMkLst>
            <pc:docMk/>
            <pc:sldMk cId="0" sldId="256"/>
            <ac:spMk id="6" creationId="{00000000-0000-0000-0000-000000000000}"/>
          </ac:spMkLst>
        </pc:spChg>
        <pc:spChg chg="mod">
          <ac:chgData name="kiran kumar mallipeddi" userId="cf38589b1bf14547" providerId="LiveId" clId="{7D544862-166B-4506-80CB-300368115C8B}" dt="2025-04-25T04:26:18.603" v="18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kiran kumar mallipeddi" userId="cf38589b1bf14547" providerId="LiveId" clId="{7D544862-166B-4506-80CB-300368115C8B}" dt="2025-04-25T04:30:37.669" v="61" actId="122"/>
          <ac:spMkLst>
            <pc:docMk/>
            <pc:sldMk cId="0" sldId="256"/>
            <ac:spMk id="10" creationId="{00000000-0000-0000-0000-000000000000}"/>
          </ac:spMkLst>
        </pc:spChg>
        <pc:picChg chg="del">
          <ac:chgData name="kiran kumar mallipeddi" userId="cf38589b1bf14547" providerId="LiveId" clId="{7D544862-166B-4506-80CB-300368115C8B}" dt="2025-04-25T04:14:25.031" v="11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kiran kumar mallipeddi" userId="cf38589b1bf14547" providerId="LiveId" clId="{7D544862-166B-4506-80CB-300368115C8B}" dt="2025-04-25T04:16:06.587" v="14" actId="1076"/>
          <ac:picMkLst>
            <pc:docMk/>
            <pc:sldMk cId="0" sldId="256"/>
            <ac:picMk id="8" creationId="{1C3AE11F-B874-936E-94A3-5265C03B983E}"/>
          </ac:picMkLst>
        </pc:picChg>
      </pc:sldChg>
      <pc:sldChg chg="modSp mod">
        <pc:chgData name="kiran kumar mallipeddi" userId="cf38589b1bf14547" providerId="LiveId" clId="{7D544862-166B-4506-80CB-300368115C8B}" dt="2025-04-24T15:27:48.987" v="1" actId="20577"/>
        <pc:sldMkLst>
          <pc:docMk/>
          <pc:sldMk cId="0" sldId="260"/>
        </pc:sldMkLst>
        <pc:spChg chg="mod">
          <ac:chgData name="kiran kumar mallipeddi" userId="cf38589b1bf14547" providerId="LiveId" clId="{7D544862-166B-4506-80CB-300368115C8B}" dt="2025-04-24T15:27:48.987" v="1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55E88-DDF3-4BCD-A318-69756D2A5380}" type="datetimeFigureOut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4E51C23-7329-40B1-8C21-AA339292B7DA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421563" y="4733925"/>
            <a:ext cx="4770437" cy="2216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UNDER THE GUIDENCE OF:</a:t>
            </a:r>
          </a:p>
          <a:p>
            <a:pPr marL="0" indent="0">
              <a:buNone/>
            </a:pPr>
            <a:r>
              <a:rPr lang="en-US" altLang="en-IN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MR.MIRZA RIZWAN BAIG</a:t>
            </a:r>
          </a:p>
        </p:txBody>
      </p:sp>
      <p:sp>
        <p:nvSpPr>
          <p:cNvPr id="7" name="TextBox 12"/>
          <p:cNvSpPr txBox="1"/>
          <p:nvPr/>
        </p:nvSpPr>
        <p:spPr>
          <a:xfrm>
            <a:off x="1524000" y="2582774"/>
            <a:ext cx="9144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REPORT</a:t>
            </a:r>
          </a:p>
          <a:p>
            <a:pPr marL="0" marR="0" lv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ENGINEERING</a:t>
            </a:r>
          </a:p>
          <a:p>
            <a:pPr marL="0" marR="0" lv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 panose="05020102010507070707"/>
              <a:buNone/>
              <a:defRPr/>
            </a:pPr>
            <a:r>
              <a:rPr lang="en-US" alt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r>
              <a:rPr lang="en-US" alt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IN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4734342"/>
            <a:ext cx="43586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PRESENTED BY:</a:t>
            </a:r>
          </a:p>
          <a:p>
            <a:r>
              <a:rPr lang="en-US" dirty="0">
                <a:latin typeface="Bookman Old Style" panose="02050604050505020204" pitchFamily="18" charset="0"/>
              </a:rPr>
              <a:t> M.HARISH           (22S11A66E1)</a:t>
            </a:r>
          </a:p>
          <a:p>
            <a:r>
              <a:rPr lang="en-US" dirty="0">
                <a:latin typeface="Bookman Old Style" panose="02050604050505020204" pitchFamily="18" charset="0"/>
              </a:rPr>
              <a:t> B.SAI THANMAI   (22S11A66G9)</a:t>
            </a:r>
          </a:p>
          <a:p>
            <a:r>
              <a:rPr lang="en-US" dirty="0">
                <a:latin typeface="Bookman Old Style" panose="02050604050505020204" pitchFamily="18" charset="0"/>
              </a:rPr>
              <a:t> K.SRI SAI             (22S11A66H9)</a:t>
            </a:r>
          </a:p>
          <a:p>
            <a:r>
              <a:rPr lang="en-US" dirty="0">
                <a:latin typeface="Bookman Old Style" panose="02050604050505020204" pitchFamily="18" charset="0"/>
              </a:rPr>
              <a:t> G.AMITH REDDY  (22S11A66D3)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A39A98-A31E-F5F8-C981-222F6DF6DC1A}"/>
              </a:ext>
            </a:extLst>
          </p:cNvPr>
          <p:cNvSpPr txBox="1"/>
          <p:nvPr/>
        </p:nvSpPr>
        <p:spPr>
          <a:xfrm>
            <a:off x="2230133" y="3922352"/>
            <a:ext cx="8731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66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CALORIES BURNT PREDICTION USING MACHINE LEARNING</a:t>
            </a:r>
            <a:br>
              <a:rPr lang="en-US" sz="2400" b="1" i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             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3AE11F-B874-936E-94A3-5265C03B9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171" t="2615" r="453" b="7118"/>
          <a:stretch/>
        </p:blipFill>
        <p:spPr>
          <a:xfrm>
            <a:off x="469392" y="478123"/>
            <a:ext cx="11253216" cy="16032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49090"/>
          </a:xfrm>
        </p:spPr>
        <p:txBody>
          <a:bodyPr>
            <a:normAutofit/>
          </a:bodyPr>
          <a:lstStyle/>
          <a:p>
            <a:r>
              <a:rPr lang="en-US" b="1" i="1" dirty="0"/>
              <a:t>AGENDA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87546" y="1300899"/>
            <a:ext cx="9304454" cy="561366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Abstract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Existing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Proposed Solution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System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Architecture diagram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Modules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Output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  <a:ea typeface="Bookman Old Style"/>
                <a:cs typeface="Bookman Old Style"/>
                <a:sym typeface="Bookman Old Style"/>
              </a:rPr>
              <a:t>Application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Future Scope</a:t>
            </a:r>
            <a:endParaRPr lang="en-US" sz="2400" dirty="0">
              <a:latin typeface="Comic Sans MS" panose="030F0702030302020204" pitchFamily="66" charset="0"/>
              <a:ea typeface="Bookman Old Style"/>
              <a:cs typeface="Bookman Old Style"/>
              <a:sym typeface="Bookman Old Style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omic Sans MS" panose="030F0702030302020204" pitchFamily="66" charset="0"/>
              </a:rPr>
              <a:t>Conclusion</a:t>
            </a:r>
          </a:p>
          <a:p>
            <a:endParaRPr lang="en-IN" sz="2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342" y="624110"/>
            <a:ext cx="8911687" cy="1280890"/>
          </a:xfrm>
        </p:spPr>
        <p:txBody>
          <a:bodyPr/>
          <a:lstStyle/>
          <a:p>
            <a:r>
              <a:rPr lang="en-US" b="1" dirty="0"/>
              <a:t>ABSTRACT: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760" y="1722850"/>
            <a:ext cx="10376852" cy="4511040"/>
          </a:xfrm>
        </p:spPr>
        <p:txBody>
          <a:bodyPr/>
          <a:lstStyle/>
          <a:p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Calorie burnt prediction by machine learning algorithm” aim </a:t>
            </a:r>
            <a:r>
              <a:rPr lang="en-US" sz="1800" b="1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to predict the number of calories burnt by an individual during physical activity using machine learning techniques</a:t>
            </a: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We collected a dataset that includes features such as heart rate, body temperature, and duration of activity. </a:t>
            </a:r>
            <a:r>
              <a:rPr lang="en-US" sz="1800" b="1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We used various machine learning models</a:t>
            </a: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, including </a:t>
            </a:r>
            <a:r>
              <a:rPr lang="en-IN" dirty="0">
                <a:latin typeface="Comic Sans MS" panose="030F0702030302020204" pitchFamily="66" charset="0"/>
              </a:rPr>
              <a:t>Random Forest Regressor</a:t>
            </a: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, linear regression, SVM and random forest, to predict calorie burn based on 15,000 records with seven features. </a:t>
            </a:r>
          </a:p>
          <a:p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The results indicate that the </a:t>
            </a:r>
            <a:r>
              <a:rPr lang="en-US" kern="100" dirty="0"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 regressor </a:t>
            </a: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can accurately predict calorie burn with a minimum mean absolute error of calories. </a:t>
            </a:r>
          </a:p>
          <a:p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This work contributes to the growing body of research on using machine learning for health and </a:t>
            </a:r>
            <a:r>
              <a:rPr lang="en-US" sz="1800" b="1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fitness applications </a:t>
            </a: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and has potential implications for </a:t>
            </a:r>
            <a:r>
              <a:rPr lang="en-US" sz="1800" b="1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personalized health coaching and wellness tracking. 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5102" y="629190"/>
            <a:ext cx="8911687" cy="833850"/>
          </a:xfrm>
        </p:spPr>
        <p:txBody>
          <a:bodyPr/>
          <a:lstStyle/>
          <a:p>
            <a:r>
              <a:rPr lang="en-US" b="1" dirty="0"/>
              <a:t>INTRODUCTION: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67840"/>
            <a:ext cx="10407332" cy="4775200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Calorie is a unit of </a:t>
            </a:r>
            <a:r>
              <a:rPr lang="en-US" b="1" dirty="0">
                <a:latin typeface="Comic Sans MS" panose="030F0702030302020204" pitchFamily="66" charset="0"/>
              </a:rPr>
              <a:t>heat energy</a:t>
            </a:r>
            <a:r>
              <a:rPr lang="en-US" dirty="0">
                <a:latin typeface="Comic Sans MS" panose="030F0702030302020204" pitchFamily="66" charset="0"/>
              </a:rPr>
              <a:t>, and </a:t>
            </a:r>
            <a:r>
              <a:rPr lang="en-US" b="1" dirty="0">
                <a:latin typeface="Comic Sans MS" panose="030F0702030302020204" pitchFamily="66" charset="0"/>
              </a:rPr>
              <a:t>tracking calories </a:t>
            </a:r>
            <a:r>
              <a:rPr lang="en-US" dirty="0">
                <a:latin typeface="Comic Sans MS" panose="030F0702030302020204" pitchFamily="66" charset="0"/>
              </a:rPr>
              <a:t>burned during </a:t>
            </a:r>
            <a:r>
              <a:rPr lang="en-US" b="1" dirty="0">
                <a:latin typeface="Comic Sans MS" panose="030F0702030302020204" pitchFamily="66" charset="0"/>
              </a:rPr>
              <a:t>physical activity is crucial for health and fitness. </a:t>
            </a:r>
          </a:p>
          <a:p>
            <a:r>
              <a:rPr lang="en-US" dirty="0">
                <a:latin typeface="Comic Sans MS" panose="030F0702030302020204" pitchFamily="66" charset="0"/>
              </a:rPr>
              <a:t>This research aims to </a:t>
            </a:r>
            <a:r>
              <a:rPr lang="en-US" b="1" dirty="0">
                <a:latin typeface="Comic Sans MS" panose="030F0702030302020204" pitchFamily="66" charset="0"/>
              </a:rPr>
              <a:t>develop a machine learning model that accurately predicts calorie burn </a:t>
            </a:r>
            <a:r>
              <a:rPr lang="en-US" dirty="0">
                <a:latin typeface="Comic Sans MS" panose="030F0702030302020204" pitchFamily="66" charset="0"/>
              </a:rPr>
              <a:t>across various activities </a:t>
            </a:r>
            <a:r>
              <a:rPr lang="en-US" b="1" dirty="0">
                <a:latin typeface="Comic Sans MS" panose="030F0702030302020204" pitchFamily="66" charset="0"/>
              </a:rPr>
              <a:t>like walking, running, and cycling</a:t>
            </a:r>
            <a:r>
              <a:rPr lang="en-US" dirty="0">
                <a:latin typeface="Comic Sans MS" panose="030F0702030302020204" pitchFamily="66" charset="0"/>
              </a:rPr>
              <a:t>. While previous studies often focus on specific activities or populations, this study seeks to create a more generalizable model.</a:t>
            </a:r>
          </a:p>
          <a:p>
            <a:pPr marL="0" indent="0">
              <a:buNone/>
            </a:pPr>
            <a:endParaRPr lang="en-US" b="1" dirty="0">
              <a:latin typeface="Comic Sans MS" panose="030F0702030302020204" pitchFamily="66" charset="0"/>
            </a:endParaRPr>
          </a:p>
          <a:p>
            <a:pPr>
              <a:buNone/>
            </a:pPr>
            <a:r>
              <a:rPr lang="en-US" b="1" dirty="0">
                <a:latin typeface="Comic Sans MS" panose="030F0702030302020204" pitchFamily="66" charset="0"/>
              </a:rPr>
              <a:t>Objectives:</a:t>
            </a:r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Collect and preprocess physical activity and calorie burn data from </a:t>
            </a:r>
            <a:r>
              <a:rPr lang="en-US" b="1" dirty="0">
                <a:latin typeface="Comic Sans MS" panose="030F0702030302020204" pitchFamily="66" charset="0"/>
              </a:rPr>
              <a:t>wearable devices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  <a:p>
            <a:r>
              <a:rPr lang="en-US" dirty="0">
                <a:latin typeface="Comic Sans MS" panose="030F0702030302020204" pitchFamily="66" charset="0"/>
              </a:rPr>
              <a:t>Develop and compare models such as </a:t>
            </a:r>
            <a:r>
              <a:rPr lang="en-US" b="1" dirty="0">
                <a:latin typeface="Comic Sans MS" panose="030F0702030302020204" pitchFamily="66" charset="0"/>
              </a:rPr>
              <a:t>linear regression, random forest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  <a:p>
            <a:r>
              <a:rPr lang="en-US" dirty="0">
                <a:latin typeface="Comic Sans MS" panose="030F0702030302020204" pitchFamily="66" charset="0"/>
              </a:rPr>
              <a:t>Identify the most accurate model for predicting calorie burn.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062" y="583470"/>
            <a:ext cx="8911687" cy="859250"/>
          </a:xfrm>
        </p:spPr>
        <p:txBody>
          <a:bodyPr/>
          <a:lstStyle/>
          <a:p>
            <a:r>
              <a:rPr lang="en-US" b="1" dirty="0"/>
              <a:t>EXISTING SYSTEM: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520" y="1818640"/>
            <a:ext cx="10539412" cy="4704080"/>
          </a:xfrm>
        </p:spPr>
        <p:txBody>
          <a:bodyPr/>
          <a:lstStyle/>
          <a:p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Most existing studies have focused on predicting calorie burn for specific types of physical</a:t>
            </a:r>
          </a:p>
          <a:p>
            <a:pPr marL="0" indent="0">
              <a:buNone/>
            </a:pP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activity or in specific populations. </a:t>
            </a:r>
          </a:p>
          <a:p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 need for more generalizable models that can accurately predict calorie burn</a:t>
            </a:r>
          </a:p>
          <a:p>
            <a:pPr marL="0" indent="0">
              <a:buNone/>
            </a:pP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across a range of physical activities and individuals. </a:t>
            </a:r>
          </a:p>
          <a:p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The main objectives of this studies are: </a:t>
            </a:r>
          </a:p>
          <a:p>
            <a:pPr marL="0" indent="0">
              <a:buNone/>
            </a:pP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 To collect data on physical activity and calorie burn from a variety of sources, including fitness </a:t>
            </a:r>
          </a:p>
          <a:p>
            <a:pPr marL="0" indent="0">
              <a:buNone/>
            </a:pP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 trackers and wearable devices. </a:t>
            </a:r>
          </a:p>
          <a:p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The scope of this research is to develop a machine learning model for predicting calorie burn</a:t>
            </a:r>
          </a:p>
          <a:p>
            <a:pPr marL="0" indent="0">
              <a:buNone/>
            </a:pP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during physical activity.</a:t>
            </a:r>
            <a:endParaRPr lang="en-US" sz="1800" kern="100" dirty="0">
              <a:effectLst/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859250"/>
          </a:xfrm>
        </p:spPr>
        <p:txBody>
          <a:bodyPr/>
          <a:lstStyle/>
          <a:p>
            <a:r>
              <a:rPr lang="en-US" b="1" dirty="0"/>
              <a:t>PROPOSED SOLUTION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6480" y="2225040"/>
            <a:ext cx="10515600" cy="3749040"/>
          </a:xfrm>
        </p:spPr>
        <p:txBody>
          <a:bodyPr/>
          <a:lstStyle/>
          <a:p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We will collect data from a variety of sources and preprocess it to ensure accuracy and</a:t>
            </a:r>
          </a:p>
          <a:p>
            <a:pPr marL="0" indent="0">
              <a:buNone/>
            </a:pP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consistency. We will use several different machine learning models to predict calorie burn</a:t>
            </a:r>
          </a:p>
          <a:p>
            <a:pPr marL="0" indent="0">
              <a:buNone/>
            </a:pP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and compare their performance. </a:t>
            </a:r>
          </a:p>
          <a:p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The study will focus on a range of physical activities, including walking, running, and cycling.</a:t>
            </a:r>
          </a:p>
          <a:p>
            <a:pPr marL="0" indent="0">
              <a:buNone/>
            </a:pPr>
            <a:r>
              <a:rPr lang="en-US" sz="1800" kern="1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The study will not examine the impact of other factors such as diet or sleep on calorie burn.</a:t>
            </a:r>
            <a:endParaRPr lang="en-US" sz="1800" kern="100" dirty="0">
              <a:effectLst/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2236" y="613950"/>
            <a:ext cx="8911687" cy="767810"/>
          </a:xfrm>
        </p:spPr>
        <p:txBody>
          <a:bodyPr/>
          <a:lstStyle/>
          <a:p>
            <a:r>
              <a:rPr lang="en-US" b="1" dirty="0"/>
              <a:t>SYSTEM REQUIREMENTS: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7040" y="1555115"/>
            <a:ext cx="8097520" cy="4926965"/>
          </a:xfrm>
        </p:spPr>
        <p:txBody>
          <a:bodyPr>
            <a:normAutofit lnSpcReduction="10000"/>
          </a:bodyPr>
          <a:lstStyle/>
          <a:p>
            <a:pPr marL="179705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b="1" u="sng" kern="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HARDWARE REQUIREMENTS:</a:t>
            </a:r>
            <a:endParaRPr lang="en-IN" sz="1800" b="1" u="sng" dirty="0">
              <a:effectLst/>
              <a:latin typeface="Comic Sans MS" panose="030F0702030302020204" pitchFamily="66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IN" sz="1800" kern="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System	       : MINIMUM i3.</a:t>
            </a:r>
            <a:endParaRPr lang="en-IN" sz="1800" dirty="0">
              <a:effectLst/>
              <a:latin typeface="Comic Sans MS" panose="030F0702030302020204" pitchFamily="66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IN" sz="1800" kern="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Hard Disk      	</a:t>
            </a:r>
            <a:r>
              <a:rPr lang="en-US" altLang="en-IN" sz="1800" kern="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IN" sz="1800" kern="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: 40 GB.</a:t>
            </a:r>
            <a:endParaRPr lang="en-IN" sz="1800" dirty="0">
              <a:effectLst/>
              <a:latin typeface="Comic Sans MS" panose="030F0702030302020204" pitchFamily="66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IN" sz="1800" kern="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Ram		</a:t>
            </a:r>
            <a:r>
              <a:rPr lang="en-US" altLang="en-IN" sz="1800" kern="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IN" sz="1800" kern="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: 4 GB.</a:t>
            </a:r>
            <a:endParaRPr lang="en-IN" sz="1800" dirty="0">
              <a:effectLst/>
              <a:latin typeface="Comic Sans MS" panose="030F0702030302020204" pitchFamily="66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79705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b="1" kern="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en-IN" sz="1800" dirty="0">
              <a:effectLst/>
              <a:latin typeface="Comic Sans MS" panose="030F0702030302020204" pitchFamily="66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79705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b="1" u="sng" kern="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SOFTWARE REQUIREMENTS:</a:t>
            </a:r>
            <a:endParaRPr lang="en-IN" sz="1800" b="1" u="sng" dirty="0">
              <a:effectLst/>
              <a:latin typeface="Comic Sans MS" panose="030F0702030302020204" pitchFamily="66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Times New Roman" panose="02020603050405020304" pitchFamily="18" charset="0"/>
              <a:buChar char="•"/>
              <a:tabLst>
                <a:tab pos="231775" algn="l"/>
              </a:tabLst>
            </a:pPr>
            <a:r>
              <a:rPr lang="en-IN" sz="1800" b="1" kern="0" spc="-1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Operating System: </a:t>
            </a:r>
            <a:r>
              <a:rPr lang="en-IN" sz="1800" kern="0" spc="-1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Windows </a:t>
            </a:r>
            <a:r>
              <a:rPr lang="en-US" altLang="en-IN" sz="1800" kern="0" spc="-1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10</a:t>
            </a:r>
            <a:endParaRPr lang="en-IN" sz="1800" spc="-10" dirty="0">
              <a:effectLst/>
              <a:latin typeface="Comic Sans MS" panose="030F0702030302020204" pitchFamily="66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90"/>
              </a:spcBef>
              <a:spcAft>
                <a:spcPts val="1000"/>
              </a:spcAft>
              <a:buFont typeface="Times New Roman" panose="02020603050405020304" pitchFamily="18" charset="0"/>
              <a:buChar char="•"/>
              <a:tabLst>
                <a:tab pos="231775" algn="l"/>
              </a:tabLst>
            </a:pPr>
            <a:r>
              <a:rPr lang="en-IN" sz="1800" b="1" kern="0" spc="-1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Coding Language  </a:t>
            </a:r>
            <a:r>
              <a:rPr lang="en-IN" sz="1800" kern="0" spc="-10" dirty="0">
                <a:effectLst/>
                <a:latin typeface="Comic Sans MS" panose="030F0702030302020204" pitchFamily="66" charset="0"/>
                <a:ea typeface="等线" panose="02010600030101010101" pitchFamily="2" charset="-122"/>
                <a:cs typeface="Times New Roman" panose="02020603050405020304" pitchFamily="18" charset="0"/>
              </a:rPr>
              <a:t>:  Python 3.7 </a:t>
            </a:r>
            <a:endParaRPr lang="en-IN" sz="1800" spc="-10" dirty="0">
              <a:effectLst/>
              <a:latin typeface="Comic Sans MS" panose="030F0702030302020204" pitchFamily="66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79705" algn="just">
              <a:lnSpc>
                <a:spcPct val="150000"/>
              </a:lnSpc>
              <a:spcAft>
                <a:spcPts val="600"/>
              </a:spcAft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43AABC-1829-2663-EC23-448EB4700972}"/>
              </a:ext>
            </a:extLst>
          </p:cNvPr>
          <p:cNvSpPr txBox="1"/>
          <p:nvPr/>
        </p:nvSpPr>
        <p:spPr>
          <a:xfrm>
            <a:off x="1838226" y="471340"/>
            <a:ext cx="49680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</a:rPr>
              <a:t>Architecture diagram</a:t>
            </a:r>
          </a:p>
          <a:p>
            <a:endParaRPr lang="en-IN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743A6C-BF8F-2505-9310-F7A2A0F35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39" y="1180707"/>
            <a:ext cx="3470635" cy="520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99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9437E0-B1F7-137D-3C4A-91F0EF46D7EC}"/>
              </a:ext>
            </a:extLst>
          </p:cNvPr>
          <p:cNvSpPr txBox="1"/>
          <p:nvPr/>
        </p:nvSpPr>
        <p:spPr>
          <a:xfrm>
            <a:off x="1866508" y="791852"/>
            <a:ext cx="25358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Modules</a:t>
            </a:r>
          </a:p>
          <a:p>
            <a:endParaRPr lang="en-IN" sz="3600" b="1" dirty="0"/>
          </a:p>
          <a:p>
            <a:endParaRPr lang="en-IN" sz="36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046A66-220B-3808-2907-8E69A95B1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039788"/>
              </p:ext>
            </p:extLst>
          </p:nvPr>
        </p:nvGraphicFramePr>
        <p:xfrm>
          <a:off x="2055043" y="1954208"/>
          <a:ext cx="8634165" cy="3924472"/>
        </p:xfrm>
        <a:graphic>
          <a:graphicData uri="http://schemas.openxmlformats.org/drawingml/2006/table">
            <a:tbl>
              <a:tblPr/>
              <a:tblGrid>
                <a:gridCol w="2759677">
                  <a:extLst>
                    <a:ext uri="{9D8B030D-6E8A-4147-A177-3AD203B41FA5}">
                      <a16:colId xmlns:a16="http://schemas.microsoft.com/office/drawing/2014/main" val="3583441079"/>
                    </a:ext>
                  </a:extLst>
                </a:gridCol>
                <a:gridCol w="2937244">
                  <a:extLst>
                    <a:ext uri="{9D8B030D-6E8A-4147-A177-3AD203B41FA5}">
                      <a16:colId xmlns:a16="http://schemas.microsoft.com/office/drawing/2014/main" val="1882601580"/>
                    </a:ext>
                  </a:extLst>
                </a:gridCol>
                <a:gridCol w="2937244">
                  <a:extLst>
                    <a:ext uri="{9D8B030D-6E8A-4147-A177-3AD203B41FA5}">
                      <a16:colId xmlns:a16="http://schemas.microsoft.com/office/drawing/2014/main" val="242594513"/>
                    </a:ext>
                  </a:extLst>
                </a:gridCol>
              </a:tblGrid>
              <a:tr h="361507">
                <a:tc>
                  <a:txBody>
                    <a:bodyPr/>
                    <a:lstStyle/>
                    <a:p>
                      <a:r>
                        <a:rPr lang="en-IN" sz="1800" b="1" dirty="0"/>
                        <a:t>Module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Purpose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Install Command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10086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r>
                        <a:rPr lang="en-IN" sz="1800" b="1"/>
                        <a:t>streamlit</a:t>
                      </a:r>
                      <a:endParaRPr lang="en-IN" sz="1800"/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Web app framework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pip install streamlit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292140"/>
                  </a:ext>
                </a:extLst>
              </a:tr>
              <a:tr h="361507">
                <a:tc>
                  <a:txBody>
                    <a:bodyPr/>
                    <a:lstStyle/>
                    <a:p>
                      <a:r>
                        <a:rPr lang="en-IN" sz="1800" b="1"/>
                        <a:t>numpy</a:t>
                      </a:r>
                      <a:endParaRPr lang="en-IN" sz="1800"/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Numerical calculations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pip install numpy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211249"/>
                  </a:ext>
                </a:extLst>
              </a:tr>
              <a:tr h="632637">
                <a:tc>
                  <a:txBody>
                    <a:bodyPr/>
                    <a:lstStyle/>
                    <a:p>
                      <a:r>
                        <a:rPr lang="en-IN" sz="1800" b="1"/>
                        <a:t>pandas</a:t>
                      </a:r>
                      <a:endParaRPr lang="en-IN" sz="1800"/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Data manipulation and DataFrames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pip install pandas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971066"/>
                  </a:ext>
                </a:extLst>
              </a:tr>
              <a:tr h="903767">
                <a:tc>
                  <a:txBody>
                    <a:bodyPr/>
                    <a:lstStyle/>
                    <a:p>
                      <a:r>
                        <a:rPr lang="en-IN" sz="1800" b="1"/>
                        <a:t>matplotlib</a:t>
                      </a:r>
                      <a:endParaRPr lang="en-IN" sz="1800"/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Plotting and visualizations (used via style.use("seaborn"))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pip install matplotlib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798867"/>
                  </a:ext>
                </a:extLst>
              </a:tr>
              <a:tr h="632637">
                <a:tc>
                  <a:txBody>
                    <a:bodyPr/>
                    <a:lstStyle/>
                    <a:p>
                      <a:r>
                        <a:rPr lang="en-IN" sz="1800" b="1"/>
                        <a:t>seaborn</a:t>
                      </a:r>
                      <a:endParaRPr lang="en-IN" sz="1800"/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Enhanced statistical plotting style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pip install seaborn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057771"/>
                  </a:ext>
                </a:extLst>
              </a:tr>
              <a:tr h="632637">
                <a:tc>
                  <a:txBody>
                    <a:bodyPr/>
                    <a:lstStyle/>
                    <a:p>
                      <a:r>
                        <a:rPr lang="en-IN" sz="1800" b="1" dirty="0"/>
                        <a:t>scikit-learn</a:t>
                      </a:r>
                      <a:endParaRPr lang="en-IN" sz="1800" dirty="0"/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Machine learning models and metrics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pip install scikit-learn</a:t>
                      </a:r>
                    </a:p>
                  </a:txBody>
                  <a:tcPr marL="90377" marR="90377" marT="45188" marB="451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02328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9DA6B2D-6151-EF63-11B5-8FD29694D4BB}"/>
              </a:ext>
            </a:extLst>
          </p:cNvPr>
          <p:cNvSpPr/>
          <p:nvPr/>
        </p:nvSpPr>
        <p:spPr>
          <a:xfrm>
            <a:off x="2130458" y="2007909"/>
            <a:ext cx="8195034" cy="329938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280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3F1B4-DFE6-6D94-F72E-4969B71D4DF2}"/>
              </a:ext>
            </a:extLst>
          </p:cNvPr>
          <p:cNvSpPr txBox="1"/>
          <p:nvPr/>
        </p:nvSpPr>
        <p:spPr>
          <a:xfrm>
            <a:off x="1885361" y="565608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/>
              <a:t>Out put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79C0CB-B4AB-5CF2-59BE-9BB2C6753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361" y="1643511"/>
            <a:ext cx="8324161" cy="444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04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E94E3C2-474A-C2F2-5D43-A0F5A38BF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226" y="1140610"/>
            <a:ext cx="9159352" cy="491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975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42907C-1500-B00A-896E-AF2BA25AC6E5}"/>
              </a:ext>
            </a:extLst>
          </p:cNvPr>
          <p:cNvSpPr txBox="1"/>
          <p:nvPr/>
        </p:nvSpPr>
        <p:spPr>
          <a:xfrm>
            <a:off x="2256971" y="716643"/>
            <a:ext cx="34788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APPLICATION</a:t>
            </a:r>
            <a:endParaRPr lang="en-IN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051B3F-780F-BBAE-7DF4-67C7180A6EB6}"/>
              </a:ext>
            </a:extLst>
          </p:cNvPr>
          <p:cNvSpPr txBox="1"/>
          <p:nvPr/>
        </p:nvSpPr>
        <p:spPr>
          <a:xfrm>
            <a:off x="2919129" y="1772671"/>
            <a:ext cx="5633358" cy="388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FOOD RECOGNITION 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MULTI MODEL 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FITNESS TRACKING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STEP MINT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CALORIES CALCULATION </a:t>
            </a:r>
            <a:endParaRPr lang="en-IN" dirty="0">
              <a:latin typeface="Comic Sans MS" panose="030F0702030302020204" pitchFamily="66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Gym/Trainer Client Dashboard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Virtual Health Coach</a:t>
            </a: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753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725" y="613950"/>
            <a:ext cx="8911687" cy="808450"/>
          </a:xfrm>
        </p:spPr>
        <p:txBody>
          <a:bodyPr/>
          <a:lstStyle/>
          <a:p>
            <a:r>
              <a:rPr lang="en-US" b="1" dirty="0"/>
              <a:t>FUTURE SCOPE: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440" y="1807026"/>
            <a:ext cx="10678160" cy="400622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Despite the promising results, the </a:t>
            </a:r>
            <a:r>
              <a:rPr lang="en-US" b="1" dirty="0">
                <a:latin typeface="Comic Sans MS" panose="030F0702030302020204" pitchFamily="66" charset="0"/>
              </a:rPr>
              <a:t>study had limitations, such as a small dataset size </a:t>
            </a:r>
            <a:r>
              <a:rPr lang="en-US" dirty="0">
                <a:latin typeface="Comic Sans MS" panose="030F0702030302020204" pitchFamily="66" charset="0"/>
              </a:rPr>
              <a:t>and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b="1" dirty="0">
                <a:latin typeface="Comic Sans MS" panose="030F0702030302020204" pitchFamily="66" charset="0"/>
              </a:rPr>
              <a:t>potential overfitting</a:t>
            </a:r>
            <a:r>
              <a:rPr lang="en-US" dirty="0">
                <a:latin typeface="Comic Sans MS" panose="030F0702030302020204" pitchFamily="66" charset="0"/>
              </a:rPr>
              <a:t>. </a:t>
            </a:r>
            <a:r>
              <a:rPr lang="en-US" b="1" dirty="0">
                <a:latin typeface="Comic Sans MS" panose="030F0702030302020204" pitchFamily="66" charset="0"/>
              </a:rPr>
              <a:t>Future research could focus on expanding the dataset</a:t>
            </a:r>
            <a:r>
              <a:rPr lang="en-US" dirty="0">
                <a:latin typeface="Comic Sans MS" panose="030F0702030302020204" pitchFamily="66" charset="0"/>
              </a:rPr>
              <a:t>, refining the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model to </a:t>
            </a:r>
            <a:r>
              <a:rPr lang="en-US" b="1" dirty="0">
                <a:latin typeface="Comic Sans MS" panose="030F0702030302020204" pitchFamily="66" charset="0"/>
              </a:rPr>
              <a:t>prevent overfitting</a:t>
            </a:r>
            <a:r>
              <a:rPr lang="en-US" dirty="0">
                <a:latin typeface="Comic Sans MS" panose="030F0702030302020204" pitchFamily="66" charset="0"/>
              </a:rPr>
              <a:t>, and exploring other feature selection methods to further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enhance model performance. Additionally, the application of these models across a broader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range of activities and individuals could provide more generalizable results, improving the real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-world applicability of the predictions.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endParaRPr lang="en-I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06BB06B-45E5-C177-2C98-EFC14876A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777" y="4142391"/>
            <a:ext cx="7371761" cy="129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Integrate user authentication to store historical calorie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Expand to real-time predictions using fitness tracker APIs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>
                <a:latin typeface="Comic Sans MS" panose="030F0702030302020204" pitchFamily="66" charset="0"/>
              </a:rPr>
              <a:t>Enhance UI/UX and host the Streamlit app online.</a:t>
            </a:r>
            <a:r>
              <a:rPr kumimoji="0" lang="en-US" altLang="en-US" i="0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565" y="633993"/>
            <a:ext cx="8911687" cy="879847"/>
          </a:xfrm>
        </p:spPr>
        <p:txBody>
          <a:bodyPr/>
          <a:lstStyle/>
          <a:p>
            <a:r>
              <a:rPr lang="en-US" b="1" dirty="0"/>
              <a:t>CONCLUSION: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2133600"/>
            <a:ext cx="10881360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This study aimed to develop an </a:t>
            </a:r>
            <a:r>
              <a:rPr lang="en-US" b="1" dirty="0">
                <a:latin typeface="Comic Sans MS" panose="030F0702030302020204" pitchFamily="66" charset="0"/>
              </a:rPr>
              <a:t>accurate machine learning model for predicting outcomes based</a:t>
            </a:r>
          </a:p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 on various characteristics.</a:t>
            </a:r>
            <a:r>
              <a:rPr lang="en-US" dirty="0">
                <a:latin typeface="Comic Sans MS" panose="030F0702030302020204" pitchFamily="66" charset="0"/>
              </a:rPr>
              <a:t> The </a:t>
            </a:r>
            <a:r>
              <a:rPr lang="en-US" b="1" dirty="0">
                <a:latin typeface="Comic Sans MS" panose="030F0702030302020204" pitchFamily="66" charset="0"/>
              </a:rPr>
              <a:t>random forest regressor model </a:t>
            </a:r>
            <a:r>
              <a:rPr lang="en-US" dirty="0">
                <a:latin typeface="Comic Sans MS" panose="030F0702030302020204" pitchFamily="66" charset="0"/>
              </a:rPr>
              <a:t>outperformed others in </a:t>
            </a:r>
            <a:r>
              <a:rPr lang="en-US" b="1" dirty="0">
                <a:latin typeface="Comic Sans MS" panose="030F0702030302020204" pitchFamily="66" charset="0"/>
              </a:rPr>
              <a:t>accuracy and key metrics, </a:t>
            </a:r>
            <a:r>
              <a:rPr lang="en-US" dirty="0">
                <a:latin typeface="Comic Sans MS" panose="030F0702030302020204" pitchFamily="66" charset="0"/>
              </a:rPr>
              <a:t>making it a valuable tool for similar predictions. Feature selection highlighted 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key factors important for </a:t>
            </a:r>
            <a:r>
              <a:rPr lang="en-US" b="1" dirty="0">
                <a:latin typeface="Comic Sans MS" panose="030F0702030302020204" pitchFamily="66" charset="0"/>
              </a:rPr>
              <a:t>predicting the target variable</a:t>
            </a:r>
            <a:r>
              <a:rPr lang="en-US" dirty="0">
                <a:latin typeface="Comic Sans MS" panose="030F0702030302020204" pitchFamily="66" charset="0"/>
              </a:rPr>
              <a:t>, providing valuable insights for the problem domain.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4EB48-21E5-CD4D-CA77-A467FA17EE9C}"/>
              </a:ext>
            </a:extLst>
          </p:cNvPr>
          <p:cNvSpPr txBox="1"/>
          <p:nvPr/>
        </p:nvSpPr>
        <p:spPr>
          <a:xfrm>
            <a:off x="4124960" y="2875280"/>
            <a:ext cx="4612640" cy="707886"/>
          </a:xfrm>
          <a:prstGeom prst="rect">
            <a:avLst/>
          </a:prstGeom>
          <a:noFill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7601095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194</TotalTime>
  <Words>806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Bookman Old Style</vt:lpstr>
      <vt:lpstr>Cambria</vt:lpstr>
      <vt:lpstr>Century Gothic</vt:lpstr>
      <vt:lpstr>Comic Sans MS</vt:lpstr>
      <vt:lpstr>Times New Roman</vt:lpstr>
      <vt:lpstr>Wingdings</vt:lpstr>
      <vt:lpstr>Wingdings 2</vt:lpstr>
      <vt:lpstr>Wingdings 3</vt:lpstr>
      <vt:lpstr>Wisp</vt:lpstr>
      <vt:lpstr>PowerPoint Presentation</vt:lpstr>
      <vt:lpstr>AGENDA:</vt:lpstr>
      <vt:lpstr>ABSTRACT:</vt:lpstr>
      <vt:lpstr>INTRODUCTION:</vt:lpstr>
      <vt:lpstr>EXISTING SYSTEM:</vt:lpstr>
      <vt:lpstr>PROPOSED SOLUTION</vt:lpstr>
      <vt:lpstr>SYSTEM REQUIREMENTS: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SCOPE: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 nijjani</dc:creator>
  <cp:lastModifiedBy>kiran kumar mallipeddi</cp:lastModifiedBy>
  <cp:revision>8</cp:revision>
  <dcterms:created xsi:type="dcterms:W3CDTF">2025-04-18T14:27:00Z</dcterms:created>
  <dcterms:modified xsi:type="dcterms:W3CDTF">2025-04-25T04:30:42Z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60A12597547A4CE0833ED961759F4D92_12</vt:lpwstr>
  </property>
  <property fmtid="{D5CDD505-2E9C-101B-9397-08002B2CF9AE}" pid="3" name="KSOProductBuildVer">
    <vt:lpwstr>1033-12.2.0.20795</vt:lpwstr>
  </property>
</Properties>
</file>